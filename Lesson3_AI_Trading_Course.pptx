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914400"/>
            <a:ext cx="10972800" cy="4572000"/>
          </a:xfrm>
          <a:prstGeom prst="rect">
            <a:avLst/>
          </a:prstGeom>
          <a:solidFill>
            <a:srgbClr val="2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A020"/>
                </a:solidFill>
                <a:latin typeface="Microsoft JhengHei"/>
              </a:rPr>
              <a:t>AI 交易系統開發課程  ·  第三堂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1100297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Microsoft JhengHei"/>
              </a:rPr>
              <a:t>從依賴到掌控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33472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8A020"/>
                </a:solidFill>
                <a:latin typeface="Microsoft JhengHei"/>
              </a:rPr>
              <a:t>打造你的 AI 交易系統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3429000"/>
            <a:ext cx="450799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547872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8B4C8"/>
                </a:solidFill>
                <a:latin typeface="Microsoft JhengHei"/>
              </a:rPr>
              <a:t>玩轉指標組合，導入 Aletheia 控制核心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4160520"/>
            <a:ext cx="4507992" cy="27432"/>
          </a:xfrm>
          <a:prstGeom prst="rect">
            <a:avLst/>
          </a:prstGeom>
          <a:solidFill>
            <a:srgbClr val="A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279392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8B4C8"/>
                </a:solidFill>
                <a:latin typeface="Microsoft JhengHei"/>
              </a:rPr>
              <a:t>講師：廖梓棋     |     2026 / 04 / 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035040"/>
            <a:ext cx="12191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8B4C8"/>
                </a:solidFill>
                <a:latin typeface="Microsoft JhengHei"/>
              </a:rPr>
              <a:t>群益期貨｜廖梓棋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" cy="6729984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A020"/>
                </a:solidFill>
                <a:latin typeface="Microsoft JhengHei"/>
              </a:rPr>
              <a:t>第一階段  /  共鳴與痛點回顧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JhengHei"/>
              </a:rPr>
              <a:t>上週回家後，你崩潰了嗎？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7455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>
                <a:solidFill>
                  <a:srgbClr val="FFFFFF"/>
                </a:solidFill>
                <a:latin typeface="Microsoft JhengHei"/>
              </a:rPr>
              <a:t>😫   「AI 把我原本會動的程式碼改壞了...」</a:t>
            </a:r>
          </a:p>
          <a:p>
            <a:pPr/>
            <a:r>
              <a:rPr sz="24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/>
            <a:r>
              <a:rPr sz="2400" b="0">
                <a:solidFill>
                  <a:srgbClr val="FFFFFF"/>
                </a:solidFill>
                <a:latin typeface="Microsoft JhengHei"/>
              </a:rPr>
              <a:t>😫   「程式碼越寫越長，AI 開始忘記前面的設定...」</a:t>
            </a:r>
          </a:p>
          <a:p>
            <a:pPr/>
            <a:r>
              <a:rPr sz="24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/>
            <a:r>
              <a:rPr sz="2400" b="0">
                <a:solidFill>
                  <a:srgbClr val="FFFFFF"/>
                </a:solidFill>
                <a:latin typeface="Microsoft JhengHei"/>
              </a:rPr>
              <a:t>😫   「編譯一直報錯，AI 一直鬼打牆修不好...」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73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8"/>
                </a:solidFill>
                <a:latin typeface="Microsoft JhengHei"/>
              </a:rPr>
              <a:t>群益期貨｜廖梓棋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Microsoft JhengHei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" cy="6729984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A020"/>
                </a:solidFill>
                <a:latin typeface="Microsoft JhengHei"/>
              </a:rPr>
              <a:t>第一階段  /  共鳴與痛點回顧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JhengHei"/>
              </a:rPr>
              <a:t>為什麼會這樣？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81328"/>
            <a:ext cx="1127455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8A020"/>
                </a:solidFill>
                <a:latin typeface="Microsoft JhengHei"/>
              </a:rPr>
              <a:t>因為我們讓 AI「自由發揮」了。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24912"/>
            <a:ext cx="11274552" cy="36576"/>
          </a:xfrm>
          <a:prstGeom prst="rect">
            <a:avLst/>
          </a:prstGeom>
          <a:solidFill>
            <a:srgbClr val="A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852928"/>
            <a:ext cx="5303520" cy="2834640"/>
          </a:xfrm>
          <a:prstGeom prst="rect">
            <a:avLst/>
          </a:prstGeom>
          <a:solidFill>
            <a:srgbClr val="2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852928"/>
            <a:ext cx="5303520" cy="64008"/>
          </a:xfrm>
          <a:prstGeom prst="rect">
            <a:avLst/>
          </a:prstGeom>
          <a:solidFill>
            <a:srgbClr val="A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JhengHei"/>
              </a:rPr>
              <a:t>人腦  負責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13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A020"/>
                </a:solidFill>
                <a:latin typeface="Microsoft JhengHei"/>
              </a:rPr>
              <a:t>[ 設計藍圖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36592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8B4C8"/>
                </a:solidFill>
                <a:latin typeface="Microsoft JhengHei"/>
              </a:rPr>
              <a:t>架構、規格、策略邏輯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3794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A020"/>
                </a:solidFill>
                <a:latin typeface="Microsoft JhengHei"/>
              </a:rPr>
              <a:t>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28232" y="2852928"/>
            <a:ext cx="5303520" cy="2834640"/>
          </a:xfrm>
          <a:prstGeom prst="rect">
            <a:avLst/>
          </a:prstGeom>
          <a:solidFill>
            <a:srgbClr val="2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28232" y="2852928"/>
            <a:ext cx="5303520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30632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JhengHei"/>
              </a:rPr>
              <a:t>AI  負責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3913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A020"/>
                </a:solidFill>
                <a:latin typeface="Microsoft JhengHei"/>
              </a:rPr>
              <a:t>[ 施工執行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4736592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8B4C8"/>
                </a:solidFill>
                <a:latin typeface="Microsoft JhengHei"/>
              </a:rPr>
              <a:t>產出程式碼、填寫細節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6473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8"/>
                </a:solidFill>
                <a:latin typeface="Microsoft JhengHei"/>
              </a:rPr>
              <a:t>群益期貨｜廖梓棋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Microsoft JhengHei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" cy="6729984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A020"/>
                </a:solidFill>
                <a:latin typeface="Microsoft JhengHei"/>
              </a:rPr>
              <a:t>第二階段  /  交易策略的積木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JhengHei"/>
              </a:rPr>
              <a:t>開發藍圖：如何向 AI 下訂單？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7455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8B4C8"/>
                </a:solidFill>
                <a:latin typeface="Microsoft JhengHei"/>
              </a:rPr>
              <a:t>指標不是越多越好，而是要「各司其職」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3456432" cy="3337560"/>
          </a:xfrm>
          <a:prstGeom prst="rect">
            <a:avLst/>
          </a:prstGeom>
          <a:solidFill>
            <a:srgbClr val="2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377440"/>
            <a:ext cx="3456432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42032"/>
            <a:ext cx="3090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A020"/>
                </a:solidFill>
                <a:latin typeface="Microsoft JhengHei"/>
              </a:rPr>
              <a:t>① 【濾網】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3090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</a:rPr>
              <a:t>趨勢指標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40"/>
            <a:ext cx="30906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8B4C8"/>
                </a:solidFill>
                <a:latin typeface="Microsoft JhengHei"/>
              </a:rPr>
              <a:t>決定大方向
過濾雜訊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2377440"/>
            <a:ext cx="3456432" cy="3337560"/>
          </a:xfrm>
          <a:prstGeom prst="rect">
            <a:avLst/>
          </a:prstGeom>
          <a:solidFill>
            <a:srgbClr val="2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2377440"/>
            <a:ext cx="3456432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2542032"/>
            <a:ext cx="3090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A020"/>
                </a:solidFill>
                <a:latin typeface="Microsoft JhengHei"/>
              </a:rPr>
              <a:t>② 【進場點】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3200400"/>
            <a:ext cx="3090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</a:rPr>
              <a:t>擺盪指標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3977640"/>
            <a:ext cx="30906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8B4C8"/>
                </a:solidFill>
                <a:latin typeface="Microsoft JhengHei"/>
              </a:rPr>
              <a:t>找尋轉折時機
精確切入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18704" y="2377440"/>
            <a:ext cx="3456432" cy="3337560"/>
          </a:xfrm>
          <a:prstGeom prst="rect">
            <a:avLst/>
          </a:prstGeom>
          <a:solidFill>
            <a:srgbClr val="2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18704" y="2377440"/>
            <a:ext cx="3456432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01584" y="2542032"/>
            <a:ext cx="3090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A020"/>
                </a:solidFill>
                <a:latin typeface="Microsoft JhengHei"/>
              </a:rPr>
              <a:t>③ 【保護傘】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4" y="3200400"/>
            <a:ext cx="3090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</a:rPr>
              <a:t>波動率指標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4" y="3977640"/>
            <a:ext cx="30906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8B4C8"/>
                </a:solidFill>
                <a:latin typeface="Microsoft JhengHei"/>
              </a:rPr>
              <a:t>控管風險
設定合理停損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6473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8"/>
                </a:solidFill>
                <a:latin typeface="Microsoft JhengHei"/>
              </a:rPr>
              <a:t>群益期貨｜廖梓棋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Microsoft JhengHei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" cy="6729984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A020"/>
                </a:solidFill>
                <a:latin typeface="Microsoft JhengHei"/>
              </a:rPr>
              <a:t>第二階段  /  交易策略的積木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JhengHei"/>
              </a:rPr>
              <a:t>積木一號  —  趨勢指標 Trend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7455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A020"/>
                </a:solidFill>
                <a:latin typeface="Microsoft JhengHei"/>
              </a:rPr>
              <a:t>角色：【濾網】  決定大方向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E8A020"/>
                </a:solidFill>
                <a:latin typeface="Microsoft JhengHei"/>
              </a:rPr>
              <a:t>作用</a:t>
            </a:r>
          </a:p>
          <a:p>
            <a:pPr/>
            <a:r>
              <a:rPr sz="2200" b="0">
                <a:solidFill>
                  <a:srgbClr val="FFFFFF"/>
                </a:solidFill>
                <a:latin typeface="Microsoft JhengHei"/>
              </a:rPr>
              <a:t>看清戰場大趨勢，決定只做多或只做空</a:t>
            </a:r>
          </a:p>
          <a:p>
            <a:pPr/>
            <a:r>
              <a:rPr sz="22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/>
            <a:r>
              <a:rPr sz="2200" b="0">
                <a:solidFill>
                  <a:srgbClr val="E8A020"/>
                </a:solidFill>
                <a:latin typeface="Microsoft JhengHei"/>
              </a:rPr>
              <a:t>常見工具</a:t>
            </a:r>
          </a:p>
          <a:p>
            <a:pPr/>
            <a:r>
              <a:rPr sz="2200" b="0">
                <a:solidFill>
                  <a:srgbClr val="FFFFFF"/>
                </a:solidFill>
                <a:latin typeface="Microsoft JhengHei"/>
              </a:rPr>
              <a:t>移動平均線（SMA / EMA）</a:t>
            </a:r>
          </a:p>
          <a:p>
            <a:pPr/>
            <a:r>
              <a:rPr sz="2200" b="0">
                <a:solidFill>
                  <a:srgbClr val="FFFFFF"/>
                </a:solidFill>
                <a:latin typeface="Microsoft JhengHei"/>
              </a:rPr>
              <a:t>拋物線指標（SAR）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72768"/>
            <a:ext cx="5715000" cy="4297680"/>
          </a:xfrm>
          <a:prstGeom prst="rect">
            <a:avLst/>
          </a:prstGeom>
          <a:solidFill>
            <a:srgbClr val="2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72768"/>
            <a:ext cx="64008" cy="429768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A020"/>
                </a:solidFill>
                <a:latin typeface="Microsoft JhengHei"/>
              </a:rPr>
              <a:t>給 AI 的指令範例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349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Microsoft JhengHei"/>
              </a:rPr>
              <a:t>「請用 20 日移動平均線（20SMA）作為濾網。
當價格在線的『上方』時，
策略只允許『做多』；
反之只允許『做空』。」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473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8"/>
                </a:solidFill>
                <a:latin typeface="Microsoft JhengHei"/>
              </a:rPr>
              <a:t>群益期貨｜廖梓棋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Microsoft JhengHei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" cy="6729984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A020"/>
                </a:solidFill>
                <a:latin typeface="Microsoft JhengHei"/>
              </a:rPr>
              <a:t>第二階段  /  交易策略的積木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JhengHei"/>
              </a:rPr>
              <a:t>積木二號  —  擺盪指標 Oscillator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7455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A020"/>
                </a:solidFill>
                <a:latin typeface="Microsoft JhengHei"/>
              </a:rPr>
              <a:t>角色：【進場點】  找尋轉折時機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E8A020"/>
                </a:solidFill>
                <a:latin typeface="Microsoft JhengHei"/>
              </a:rPr>
              <a:t>作用</a:t>
            </a:r>
          </a:p>
          <a:p>
            <a:pPr/>
            <a:r>
              <a:rPr sz="2200" b="0">
                <a:solidFill>
                  <a:srgbClr val="FFFFFF"/>
                </a:solidFill>
                <a:latin typeface="Microsoft JhengHei"/>
              </a:rPr>
              <a:t>在對的趨勢中，找「轉折或超賣」的買點</a:t>
            </a:r>
          </a:p>
          <a:p>
            <a:pPr/>
            <a:r>
              <a:rPr sz="22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/>
            <a:r>
              <a:rPr sz="2200" b="0">
                <a:solidFill>
                  <a:srgbClr val="E8A020"/>
                </a:solidFill>
                <a:latin typeface="Microsoft JhengHei"/>
              </a:rPr>
              <a:t>常見工具</a:t>
            </a:r>
          </a:p>
          <a:p>
            <a:pPr/>
            <a:r>
              <a:rPr sz="2200" b="0">
                <a:solidFill>
                  <a:srgbClr val="FFFFFF"/>
                </a:solidFill>
                <a:latin typeface="Microsoft JhengHei"/>
              </a:rPr>
              <a:t>RSI  相對強弱指標</a:t>
            </a:r>
          </a:p>
          <a:p>
            <a:pPr/>
            <a:r>
              <a:rPr sz="2200" b="0">
                <a:solidFill>
                  <a:srgbClr val="FFFFFF"/>
                </a:solidFill>
                <a:latin typeface="Microsoft JhengHei"/>
              </a:rPr>
              <a:t>KD   隨機指標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72768"/>
            <a:ext cx="5715000" cy="4297680"/>
          </a:xfrm>
          <a:prstGeom prst="rect">
            <a:avLst/>
          </a:prstGeom>
          <a:solidFill>
            <a:srgbClr val="2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72768"/>
            <a:ext cx="64008" cy="429768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A020"/>
                </a:solidFill>
                <a:latin typeface="Microsoft JhengHei"/>
              </a:rPr>
              <a:t>給 AI 的指令範例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349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Microsoft JhengHei"/>
              </a:rPr>
              <a:t>「請加入 14 日 RSI。
當大趨勢為多頭時，
若 RSI 跌破 30 又重新站上 30，
則觸發買進訊號。」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473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8"/>
                </a:solidFill>
                <a:latin typeface="Microsoft JhengHei"/>
              </a:rPr>
              <a:t>群益期貨｜廖梓棋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Microsoft JhengHei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" cy="6729984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A020"/>
                </a:solidFill>
                <a:latin typeface="Microsoft JhengHei"/>
              </a:rPr>
              <a:t>第二階段  /  交易策略的積木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JhengHei"/>
              </a:rPr>
              <a:t>積木三號  —  波動率指標 Volatility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7455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A020"/>
                </a:solidFill>
                <a:latin typeface="Microsoft JhengHei"/>
              </a:rPr>
              <a:t>角色：【保護傘】  控管風險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E8A020"/>
                </a:solidFill>
                <a:latin typeface="Microsoft JhengHei"/>
              </a:rPr>
              <a:t>作用</a:t>
            </a:r>
          </a:p>
          <a:p>
            <a:pPr/>
            <a:r>
              <a:rPr sz="2200" b="0">
                <a:solidFill>
                  <a:srgbClr val="FFFFFF"/>
                </a:solidFill>
                <a:latin typeface="Microsoft JhengHei"/>
              </a:rPr>
              <a:t>依市場震盪幅度設定停損，避免假突破</a:t>
            </a:r>
          </a:p>
          <a:p>
            <a:pPr/>
            <a:r>
              <a:rPr sz="22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/>
            <a:r>
              <a:rPr sz="2200" b="0">
                <a:solidFill>
                  <a:srgbClr val="E8A020"/>
                </a:solidFill>
                <a:latin typeface="Microsoft JhengHei"/>
              </a:rPr>
              <a:t>常見工具</a:t>
            </a:r>
          </a:p>
          <a:p>
            <a:pPr/>
            <a:r>
              <a:rPr sz="2200" b="0">
                <a:solidFill>
                  <a:srgbClr val="FFFFFF"/>
                </a:solidFill>
                <a:latin typeface="Microsoft JhengHei"/>
              </a:rPr>
              <a:t>ATR  真實區間均值</a:t>
            </a:r>
          </a:p>
          <a:p>
            <a:pPr/>
            <a:r>
              <a:rPr sz="2200" b="0">
                <a:solidFill>
                  <a:srgbClr val="FFFFFF"/>
                </a:solidFill>
                <a:latin typeface="Microsoft JhengHei"/>
              </a:rPr>
              <a:t>Bollinger Bands  布林通道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72768"/>
            <a:ext cx="5715000" cy="4297680"/>
          </a:xfrm>
          <a:prstGeom prst="rect">
            <a:avLst/>
          </a:prstGeom>
          <a:solidFill>
            <a:srgbClr val="2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72768"/>
            <a:ext cx="64008" cy="429768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A020"/>
                </a:solidFill>
                <a:latin typeface="Microsoft JhengHei"/>
              </a:rPr>
              <a:t>給 AI 的指令範例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349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Microsoft JhengHei"/>
              </a:rPr>
              <a:t>「請以 14 日 ATR 計算動態停損點。
進場後，停損價位設為
進場價格  減去  1.5 倍的 ATR。」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473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8"/>
                </a:solidFill>
                <a:latin typeface="Microsoft JhengHei"/>
              </a:rPr>
              <a:t>群益期貨｜廖梓棋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Microsoft JhengHei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" cy="6729984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A020"/>
                </a:solidFill>
                <a:latin typeface="Microsoft JhengHei"/>
              </a:rPr>
              <a:t>第二階段  /  交易策略的積木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JhengHei"/>
              </a:rPr>
              <a:t>把積木組裝起來！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7455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5349240" cy="4206240"/>
          </a:xfrm>
          <a:prstGeom prst="rect">
            <a:avLst/>
          </a:prstGeom>
          <a:solidFill>
            <a:srgbClr val="30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349240" cy="64008"/>
          </a:xfrm>
          <a:prstGeom prst="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56231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A4F"/>
                </a:solidFill>
                <a:latin typeface="Microsoft JhengHei"/>
              </a:rPr>
              <a:t>災難級指令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42032"/>
            <a:ext cx="4983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  <a:latin typeface="Microsoft JhengHei"/>
              </a:rPr>
              <a:t>「這三個指標幫我混在一起，
寫個會賺錢的策略。」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6792" y="1691640"/>
            <a:ext cx="5486400" cy="4206240"/>
          </a:xfrm>
          <a:prstGeom prst="rect">
            <a:avLst/>
          </a:prstGeom>
          <a:solidFill>
            <a:srgbClr val="15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6792" y="1691640"/>
            <a:ext cx="5486400" cy="64008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56231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CAF7A"/>
                </a:solidFill>
                <a:latin typeface="Microsoft JhengHei"/>
              </a:rPr>
              <a:t>工程師級指令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42032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Microsoft JhengHei"/>
              </a:rPr>
              <a:t>「請組合策略：
① 20SMA 判斷趨勢，作為濾網。
② RSI(14) 低檔黃金交叉時進場。
③ 停損設為 1.5 倍 ATR。」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6473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8"/>
                </a:solidFill>
                <a:latin typeface="Microsoft JhengHei"/>
              </a:rPr>
              <a:t>群益期貨｜廖梓棋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Microsoft JhengHei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" cy="6729984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A020"/>
                </a:solidFill>
                <a:latin typeface="Microsoft JhengHei"/>
              </a:rPr>
              <a:t>第三階段  /  導入 Aletheia 控制核心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JhengHei"/>
              </a:rPr>
              <a:t>AI 還是會暴走怎麼辦？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7455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11183112" cy="960120"/>
          </a:xfrm>
          <a:prstGeom prst="rect">
            <a:avLst/>
          </a:prstGeom>
          <a:solidFill>
            <a:srgbClr val="2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64008" cy="960120"/>
          </a:xfrm>
          <a:prstGeom prst="rect">
            <a:avLst/>
          </a:prstGeom>
          <a:solidFill>
            <a:srgbClr val="A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10835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A8B4C8"/>
                </a:solidFill>
                <a:latin typeface="Microsoft JhengHei"/>
              </a:rPr>
              <a:t>「我下了完美的規格，但 AI 交卷出來的程式碼還是報錯？」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88920"/>
            <a:ext cx="5349240" cy="2697480"/>
          </a:xfrm>
          <a:prstGeom prst="rect">
            <a:avLst/>
          </a:prstGeom>
          <a:solidFill>
            <a:srgbClr val="30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88920"/>
            <a:ext cx="5349240" cy="64008"/>
          </a:xfrm>
          <a:prstGeom prst="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A4F"/>
                </a:solidFill>
                <a:latin typeface="Microsoft JhengHei"/>
              </a:rPr>
              <a:t>問題根源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47872"/>
            <a:ext cx="4983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</a:rPr>
              <a:t>AI 只負責生成
沒有「自我檢查」機制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36792" y="2788920"/>
            <a:ext cx="5349240" cy="2697480"/>
          </a:xfrm>
          <a:prstGeom prst="rect">
            <a:avLst/>
          </a:prstGeom>
          <a:solidFill>
            <a:srgbClr val="1E2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36792" y="2788920"/>
            <a:ext cx="5349240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92608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A020"/>
                </a:solidFill>
                <a:latin typeface="Microsoft JhengHei"/>
              </a:rPr>
              <a:t>解法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547872"/>
            <a:ext cx="4983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</a:rPr>
              <a:t>今天賦予你們
業界最高段的武器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6473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8"/>
                </a:solidFill>
                <a:latin typeface="Microsoft JhengHei"/>
              </a:rPr>
              <a:t>群益期貨｜廖梓棋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Microsoft JhengHei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" cy="6729984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A020"/>
                </a:solidFill>
                <a:latin typeface="Microsoft JhengHei"/>
              </a:rPr>
              <a:t>第三階段  /  導入 Aletheia 控制核心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JhengHei"/>
              </a:rPr>
              <a:t>Aletheia 框架  —  來自 DeepMind 的啟發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7455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8B4C8"/>
                </a:solidFill>
                <a:latin typeface="Microsoft JhengHei"/>
              </a:rPr>
              <a:t>三角色閉環  /  生成 -&gt; 審查 -&gt; 修正  /  最多循環 3 次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3456432" cy="3429000"/>
          </a:xfrm>
          <a:prstGeom prst="rect">
            <a:avLst/>
          </a:prstGeom>
          <a:solidFill>
            <a:srgbClr val="2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3456432" cy="7315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32888"/>
            <a:ext cx="3090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A020"/>
                </a:solidFill>
                <a:latin typeface="Microsoft JhengHei"/>
              </a:rPr>
              <a:t>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3090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</a:rPr>
              <a:t>生成器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8B4C8"/>
                </a:solidFill>
                <a:latin typeface="Microsoft JhengHei"/>
              </a:rPr>
              <a:t>依據需求草擬
邏輯與程式碼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2331720"/>
            <a:ext cx="3456432" cy="3429000"/>
          </a:xfrm>
          <a:prstGeom prst="rect">
            <a:avLst/>
          </a:prstGeom>
          <a:solidFill>
            <a:srgbClr val="2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2331720"/>
            <a:ext cx="3456432" cy="73152"/>
          </a:xfrm>
          <a:prstGeom prst="rect">
            <a:avLst/>
          </a:prstGeom>
          <a:solidFill>
            <a:srgbClr val="58C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2532888"/>
            <a:ext cx="3090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C4DD"/>
                </a:solidFill>
                <a:latin typeface="Microsoft JhengHei"/>
              </a:rPr>
              <a:t>VERIFIER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3154680"/>
            <a:ext cx="3090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</a:rPr>
              <a:t>審查員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393192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8B4C8"/>
                </a:solidFill>
                <a:latin typeface="Microsoft JhengHei"/>
              </a:rPr>
              <a:t>批判稽核
找 Bug、查邊界條件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18704" y="2331720"/>
            <a:ext cx="3456432" cy="3429000"/>
          </a:xfrm>
          <a:prstGeom prst="rect">
            <a:avLst/>
          </a:prstGeom>
          <a:solidFill>
            <a:srgbClr val="2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18704" y="2331720"/>
            <a:ext cx="3456432" cy="73152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01584" y="2532888"/>
            <a:ext cx="3090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AF7A"/>
                </a:solidFill>
                <a:latin typeface="Microsoft JhengHei"/>
              </a:rPr>
              <a:t>REVISER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4" y="3154680"/>
            <a:ext cx="3090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</a:rPr>
              <a:t>修訂者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4" y="393192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8B4C8"/>
                </a:solidFill>
                <a:latin typeface="Microsoft JhengHei"/>
              </a:rPr>
              <a:t>根據稽核結果
精確修正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9352" y="3611880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A020"/>
                </a:solidFill>
                <a:latin typeface="Microsoft JhengHei"/>
              </a:rPr>
              <a:t>-&gt;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611880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A020"/>
                </a:solidFill>
                <a:latin typeface="Microsoft JhengHei"/>
              </a:rPr>
              <a:t>-&gt;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6473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8"/>
                </a:solidFill>
                <a:latin typeface="Microsoft JhengHei"/>
              </a:rPr>
              <a:t>群益期貨｜廖梓棋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Microsoft JhengHe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" cy="6729984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A020"/>
                </a:solidFill>
                <a:latin typeface="Microsoft JhengHei"/>
              </a:rPr>
              <a:t>第三階段  /  導入 Aletheia 控制核心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JhengHei"/>
              </a:rPr>
              <a:t>發放神兵利器：AI Agent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7455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19072"/>
            <a:ext cx="11183112" cy="731520"/>
          </a:xfrm>
          <a:prstGeom prst="rect">
            <a:avLst/>
          </a:prstGeom>
          <a:solidFill>
            <a:srgbClr val="2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56231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A020"/>
                </a:solidFill>
                <a:latin typeface="Microsoft JhengHei"/>
              </a:rPr>
              <a:t>今日資料夾的秘密武器：AI_AGENT_PROTOCOL.md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78608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FFFFFF"/>
                </a:solidFill>
                <a:latin typeface="Microsoft JhengHei"/>
              </a:rPr>
              <a:t>這不是給你看的，是給 AI 看的「合約」。</a:t>
            </a:r>
          </a:p>
          <a:p>
            <a:pPr/>
            <a:r>
              <a:rPr sz="22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/>
            <a:r>
              <a:rPr sz="2200" b="1">
                <a:solidFill>
                  <a:srgbClr val="E8A020"/>
                </a:solidFill>
                <a:latin typeface="Microsoft JhengHei"/>
              </a:rPr>
              <a:t>它強制規定了三件事：</a:t>
            </a:r>
          </a:p>
          <a:p>
            <a:pPr/>
            <a:r>
              <a:rPr sz="2200" b="0">
                <a:solidFill>
                  <a:srgbClr val="FFFFFF"/>
                </a:solidFill>
                <a:latin typeface="Microsoft JhengHei"/>
              </a:rPr>
              <a:t>檔案操作原則  —  不擅自覆蓋或刪除</a:t>
            </a:r>
          </a:p>
          <a:p>
            <a:pPr/>
            <a:r>
              <a:rPr sz="2200" b="0">
                <a:solidFill>
                  <a:srgbClr val="FFFFFF"/>
                </a:solidFill>
                <a:latin typeface="Microsoft JhengHei"/>
              </a:rPr>
              <a:t>程式碼品質底線  —  空值、邊界、try-catch</a:t>
            </a:r>
          </a:p>
          <a:p>
            <a:pPr/>
            <a:r>
              <a:rPr sz="2200" b="0">
                <a:solidFill>
                  <a:srgbClr val="FFFFFF"/>
                </a:solidFill>
                <a:latin typeface="Microsoft JhengHei"/>
              </a:rPr>
              <a:t>錯誤重試上限  —  最多 3 輪自我修正後才提問</a:t>
            </a:r>
          </a:p>
          <a:p>
            <a:pPr/>
            <a:r>
              <a:rPr sz="22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/>
            <a:r>
              <a:rPr sz="2200" b="1">
                <a:solidFill>
                  <a:srgbClr val="E8A020"/>
                </a:solidFill>
                <a:latin typeface="Microsoft JhengHei"/>
              </a:rPr>
              <a:t>把這份文件貼在對話最前面，AI 立刻脫胎換骨。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6473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8"/>
                </a:solidFill>
                <a:latin typeface="Microsoft JhengHei"/>
              </a:rPr>
              <a:t>群益期貨｜廖梓棋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Microsoft JhengHe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" cy="6729984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A020"/>
                </a:solidFill>
                <a:latin typeface="Microsoft JhengHei"/>
              </a:rPr>
              <a:t>第三階段  /  導入 Aletheia 控制核心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JhengHei"/>
              </a:rPr>
              <a:t>Live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7455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19072"/>
            <a:ext cx="11183112" cy="4297680"/>
          </a:xfrm>
          <a:prstGeom prst="rect">
            <a:avLst/>
          </a:prstGeom>
          <a:solidFill>
            <a:srgbClr val="1C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A8B4C8"/>
                </a:solidFill>
                <a:latin typeface="Microsoft JhengHei"/>
              </a:rPr>
              <a:t>[ 老師實際桌面展示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17520"/>
            <a:ext cx="11183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icrosoft JhengHei"/>
              </a:rPr>
              <a:t>加上 Protocol 的 Antigravity
簡直判若兩人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63440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8A020"/>
                </a:solidFill>
                <a:latin typeface="Microsoft JhengHei"/>
              </a:rPr>
              <a:t>Before   vs   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6473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8"/>
                </a:solidFill>
                <a:latin typeface="Microsoft JhengHei"/>
              </a:rPr>
              <a:t>群益期貨｜廖梓棋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Microsoft JhengHe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" cy="6729984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A020"/>
                </a:solidFill>
                <a:latin typeface="Microsoft JhengHei"/>
              </a:rPr>
              <a:t>第四階段  /  黑客松專案實戰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JhengHei"/>
              </a:rPr>
              <a:t>Hackathon Start!  實體黑客松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7455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E8A020"/>
                </a:solidFill>
                <a:latin typeface="Microsoft JhengHei"/>
              </a:rPr>
              <a:t>這是一場為期 60 分鐘的實戰。</a:t>
            </a:r>
          </a:p>
          <a:p>
            <a:pPr/>
            <a:r>
              <a:rPr sz="24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/>
            <a:r>
              <a:rPr sz="2400" b="1">
                <a:solidFill>
                  <a:srgbClr val="FFFFFF"/>
                </a:solidFill>
                <a:latin typeface="Microsoft JhengHei"/>
              </a:rPr>
              <a:t>今日任務</a:t>
            </a:r>
          </a:p>
          <a:p>
            <a:pPr/>
            <a:r>
              <a:rPr sz="2400" b="0">
                <a:solidFill>
                  <a:srgbClr val="FFFFFF"/>
                </a:solidFill>
                <a:latin typeface="Microsoft JhengHei"/>
              </a:rPr>
              <a:t>完成你的專屬 AI 輔助指標 / 交易策略</a:t>
            </a:r>
          </a:p>
          <a:p>
            <a:pPr/>
            <a:r>
              <a:rPr sz="24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/>
            <a:r>
              <a:rPr sz="2400" b="1">
                <a:solidFill>
                  <a:srgbClr val="FFFFFF"/>
                </a:solidFill>
                <a:latin typeface="Microsoft JhengHei"/>
              </a:rPr>
              <a:t>準備工作</a:t>
            </a:r>
          </a:p>
          <a:p>
            <a:pPr/>
            <a:r>
              <a:rPr sz="2400" b="0">
                <a:solidFill>
                  <a:srgbClr val="FFFFFF"/>
                </a:solidFill>
                <a:latin typeface="Microsoft JhengHei"/>
              </a:rPr>
              <a:t>打開群益 CTA，備妥 Antigravity</a:t>
            </a:r>
          </a:p>
          <a:p>
            <a:pPr/>
            <a:r>
              <a:rPr sz="2400" b="0">
                <a:solidFill>
                  <a:srgbClr val="FFFFFF"/>
                </a:solidFill>
                <a:latin typeface="Microsoft JhengHei"/>
              </a:rPr>
              <a:t>確認 CTA-API 文件與 Protocol 已備妥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73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8"/>
                </a:solidFill>
                <a:latin typeface="Microsoft JhengHei"/>
              </a:rPr>
              <a:t>群益期貨｜廖梓棋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Microsoft JhengHe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A020"/>
                </a:solidFill>
                <a:latin typeface="Microsoft JhengHei"/>
              </a:rPr>
              <a:t>黑客松儀表板  （本頁常駐投影 60 分鐘）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1127455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5486400" cy="5486400"/>
          </a:xfrm>
          <a:prstGeom prst="rect">
            <a:avLst/>
          </a:prstGeom>
          <a:solidFill>
            <a:srgbClr val="2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749808"/>
            <a:ext cx="5486400" cy="7315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A020"/>
                </a:solidFill>
                <a:latin typeface="Microsoft JhengHei"/>
              </a:rPr>
              <a:t>開發三步曲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1663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1">
                <a:solidFill>
                  <a:srgbClr val="E8A020"/>
                </a:solidFill>
                <a:latin typeface="Microsoft JhengHei"/>
              </a:rPr>
              <a:t>STEP 1</a:t>
            </a:r>
          </a:p>
          <a:p>
            <a:pPr/>
            <a:r>
              <a:rPr sz="2000" b="0">
                <a:solidFill>
                  <a:srgbClr val="FFFFFF"/>
                </a:solidFill>
                <a:latin typeface="Microsoft JhengHei"/>
              </a:rPr>
              <a:t>餵養 CTA-API 與 AI_AGENT_PROTOCOL.md</a:t>
            </a:r>
          </a:p>
          <a:p>
            <a:pPr/>
            <a:r>
              <a:rPr sz="20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/>
            <a:r>
              <a:rPr sz="2000" b="1">
                <a:solidFill>
                  <a:srgbClr val="E8A020"/>
                </a:solidFill>
                <a:latin typeface="Microsoft JhengHei"/>
              </a:rPr>
              <a:t>STEP 2</a:t>
            </a:r>
          </a:p>
          <a:p>
            <a:pPr/>
            <a:r>
              <a:rPr sz="2000" b="0">
                <a:solidFill>
                  <a:srgbClr val="FFFFFF"/>
                </a:solidFill>
                <a:latin typeface="Microsoft JhengHei"/>
              </a:rPr>
              <a:t>用三積木心法構思並描述策略規格</a:t>
            </a:r>
          </a:p>
          <a:p>
            <a:pPr/>
            <a:r>
              <a:rPr sz="20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/>
            <a:r>
              <a:rPr sz="2000" b="1">
                <a:solidFill>
                  <a:srgbClr val="E8A020"/>
                </a:solidFill>
                <a:latin typeface="Microsoft JhengHei"/>
              </a:rPr>
              <a:t>STEP 3</a:t>
            </a:r>
          </a:p>
          <a:p>
            <a:pPr/>
            <a:r>
              <a:rPr sz="2000" b="0">
                <a:solidFill>
                  <a:srgbClr val="FFFFFF"/>
                </a:solidFill>
                <a:latin typeface="Microsoft JhengHei"/>
              </a:rPr>
              <a:t>丟入群益 CTA 編譯 -&gt; 畫圖 -&gt; 檢查結果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6382512" y="749808"/>
            <a:ext cx="5486400" cy="5486400"/>
          </a:xfrm>
          <a:prstGeom prst="rect">
            <a:avLst/>
          </a:prstGeom>
          <a:solidFill>
            <a:srgbClr val="2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2512" y="749808"/>
            <a:ext cx="5486400" cy="73152"/>
          </a:xfrm>
          <a:prstGeom prst="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9144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5A4F"/>
                </a:solidFill>
                <a:latin typeface="Microsoft JhengHei"/>
              </a:rPr>
              <a:t>遇到問題怎麼辦？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1508760"/>
            <a:ext cx="51663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1">
                <a:solidFill>
                  <a:srgbClr val="FFFFFF"/>
                </a:solidFill>
                <a:latin typeface="Microsoft JhengHei"/>
              </a:rPr>
              <a:t>出現報錯紅字</a:t>
            </a:r>
          </a:p>
          <a:p>
            <a:pPr/>
            <a:r>
              <a:rPr sz="2000" b="0">
                <a:solidFill>
                  <a:srgbClr val="A8B4C8"/>
                </a:solidFill>
                <a:latin typeface="Microsoft JhengHei"/>
              </a:rPr>
              <a:t>全部複製，丟給 AI：</a:t>
            </a:r>
          </a:p>
          <a:p>
            <a:pPr lvl="1"/>
            <a:r>
              <a:rPr sz="2000" b="0">
                <a:solidFill>
                  <a:srgbClr val="FFFFFF"/>
                </a:solidFill>
                <a:latin typeface="Microsoft JhengHei"/>
              </a:rPr>
              <a:t>「編譯報錯如下，請根據 Protocol 修復」</a:t>
            </a:r>
          </a:p>
          <a:p>
            <a:pPr/>
            <a:r>
              <a:rPr sz="20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/>
            <a:r>
              <a:rPr sz="2000" b="1">
                <a:solidFill>
                  <a:srgbClr val="FFFFFF"/>
                </a:solidFill>
                <a:latin typeface="Microsoft JhengHei"/>
              </a:rPr>
              <a:t>AI 修了三輪還是不對</a:t>
            </a:r>
          </a:p>
          <a:p>
            <a:pPr/>
            <a:r>
              <a:rPr sz="2000" b="0">
                <a:solidFill>
                  <a:srgbClr val="A8B4C8"/>
                </a:solidFill>
                <a:latin typeface="Microsoft JhengHei"/>
              </a:rPr>
              <a:t>停止重試，換個切入方向再試</a:t>
            </a:r>
          </a:p>
          <a:p>
            <a:pPr/>
            <a:r>
              <a:rPr sz="20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/>
            <a:r>
              <a:rPr sz="2000" b="1">
                <a:solidFill>
                  <a:srgbClr val="FFFFFF"/>
                </a:solidFill>
                <a:latin typeface="Microsoft JhengHei"/>
              </a:rPr>
              <a:t>卡關超過 10 分鐘</a:t>
            </a:r>
          </a:p>
          <a:p>
            <a:pPr/>
            <a:r>
              <a:rPr sz="2000" b="0">
                <a:solidFill>
                  <a:srgbClr val="A8B4C8"/>
                </a:solidFill>
                <a:latin typeface="Microsoft JhengHei"/>
              </a:rPr>
              <a:t>舉手，呼叫老師！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473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8"/>
                </a:solidFill>
                <a:latin typeface="Microsoft JhengHei"/>
              </a:rPr>
              <a:t>群益期貨｜廖梓棋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Microsoft JhengHe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" cy="6729984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A020"/>
                </a:solidFill>
                <a:latin typeface="Microsoft JhengHei"/>
              </a:rPr>
              <a:t>第五階段  /  產品化與未來展望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JhengHei"/>
              </a:rPr>
              <a:t>把心血變成產品  —  Github 整理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7455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E8A020"/>
                </a:solidFill>
                <a:latin typeface="Microsoft JhengHei"/>
              </a:rPr>
              <a:t>你的策略會跑了，然後呢？</a:t>
            </a:r>
          </a:p>
          <a:p>
            <a:pPr/>
            <a:r>
              <a:rPr sz="2600" b="0">
                <a:solidFill>
                  <a:srgbClr val="FFFFFF"/>
                </a:solidFill>
                <a:latin typeface="Microsoft JhengHei"/>
              </a:rPr>
              <a:t>用 AI 幫你把成果寫成文件！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46120"/>
            <a:ext cx="11183112" cy="2423160"/>
          </a:xfrm>
          <a:prstGeom prst="rect">
            <a:avLst/>
          </a:prstGeom>
          <a:solidFill>
            <a:srgbClr val="2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246120"/>
            <a:ext cx="64008" cy="242316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015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A020"/>
                </a:solidFill>
                <a:latin typeface="Microsoft JhengHei"/>
              </a:rPr>
              <a:t>指令範例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789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  <a:latin typeface="Microsoft JhengHei"/>
              </a:rPr>
              <a:t>「請根據我們剛才產出的專案程式碼，
以專業開發者的口吻生成一份包含
『功能介紹、用法、技術細節』的 README.md。」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6473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8"/>
                </a:solidFill>
                <a:latin typeface="Microsoft JhengHei"/>
              </a:rPr>
              <a:t>群益期貨｜廖梓棋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Microsoft JhengHe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2191695" cy="6729984"/>
          </a:xfrm>
          <a:prstGeom prst="rect">
            <a:avLst/>
          </a:prstGeom>
          <a:solidFill>
            <a:srgbClr val="0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783080"/>
            <a:ext cx="121916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A8B4C8"/>
                </a:solidFill>
                <a:latin typeface="Microsoft JhengHei"/>
              </a:rPr>
              <a:t>Demo Show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60604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  <a:latin typeface="Microsoft JhengHei"/>
              </a:rPr>
              <a:t>Who's next?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069080"/>
            <a:ext cx="121916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A020"/>
                </a:solidFill>
                <a:latin typeface="Microsoft JhengHei"/>
              </a:rPr>
              <a:t>用你的創意驚豔全場！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73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8"/>
                </a:solidFill>
                <a:latin typeface="Microsoft JhengHei"/>
              </a:rPr>
              <a:t>群益期貨｜廖梓棋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Microsoft JhengHe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" cy="6729984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A020"/>
                </a:solidFill>
                <a:latin typeface="Microsoft JhengHei"/>
              </a:rPr>
              <a:t>第五階段  /  產品化與未來展望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JhengHei"/>
              </a:rPr>
              <a:t>屬於你的真實戰場：期末競賽起跑！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7455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>
                <a:solidFill>
                  <a:srgbClr val="FFFFFF"/>
                </a:solidFill>
                <a:latin typeface="Microsoft JhengHei"/>
              </a:rPr>
              <a:t>為期一個月的實盤 / 模擬盤驗證</a:t>
            </a:r>
          </a:p>
          <a:p>
            <a:pPr/>
            <a:r>
              <a:rPr sz="24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/>
            <a:r>
              <a:rPr sz="2400" b="1">
                <a:solidFill>
                  <a:srgbClr val="E8A020"/>
                </a:solidFill>
                <a:latin typeface="Microsoft JhengHei"/>
              </a:rPr>
              <a:t>評分核心</a:t>
            </a:r>
          </a:p>
          <a:p>
            <a:pPr/>
            <a:r>
              <a:rPr sz="2400" b="0">
                <a:solidFill>
                  <a:srgbClr val="FFFFFF"/>
                </a:solidFill>
                <a:latin typeface="Microsoft JhengHei"/>
              </a:rPr>
              <a:t>不是看誰賺得多，而是看「誰是最好的 AI 控制者」</a:t>
            </a:r>
          </a:p>
          <a:p>
            <a:pPr/>
            <a:r>
              <a:rPr sz="2400" b="0">
                <a:solidFill>
                  <a:srgbClr val="FFFFFF"/>
                </a:solidFill>
                <a:latin typeface="Microsoft JhengHei"/>
              </a:rPr>
              <a:t/>
            </a:r>
          </a:p>
          <a:p>
            <a:pPr/>
            <a:r>
              <a:rPr sz="2400" b="1">
                <a:solidFill>
                  <a:srgbClr val="E8A020"/>
                </a:solidFill>
                <a:latin typeface="Microsoft JhengHei"/>
              </a:rPr>
              <a:t>Github 足跡就是你的成績單</a:t>
            </a:r>
          </a:p>
          <a:p>
            <a:pPr/>
            <a:r>
              <a:rPr sz="2400" b="0">
                <a:solidFill>
                  <a:srgbClr val="FFFFFF"/>
                </a:solidFill>
                <a:latin typeface="Microsoft JhengHei"/>
              </a:rPr>
              <a:t>每一次 Prompt 升級、每次對話修正，都是分數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73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8"/>
                </a:solidFill>
                <a:latin typeface="Microsoft JhengHei"/>
              </a:rPr>
              <a:t>群益期貨｜廖梓棋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Microsoft JhengHe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914400"/>
            <a:ext cx="10972800" cy="4754880"/>
          </a:xfrm>
          <a:prstGeom prst="rect">
            <a:avLst/>
          </a:prstGeom>
          <a:solidFill>
            <a:srgbClr val="1E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914400"/>
            <a:ext cx="109728" cy="475488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E8A020"/>
                </a:solidFill>
                <a:latin typeface="Microsoft JhengHei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icrosoft JhengHei"/>
              </a:rPr>
              <a:t>你不需要成為最懂程式碼的人，
但你可以成為最會控制 AI 的交易員。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0" b="1" i="0">
                <a:solidFill>
                  <a:srgbClr val="E8A020"/>
                </a:solidFill>
                <a:latin typeface="Microsoft JhengHei"/>
              </a:rPr>
              <a:t>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A8B4C8"/>
                </a:solidFill>
                <a:latin typeface="Microsoft JhengHei"/>
              </a:rPr>
              <a:t>—  廖梓棋  /  AI 交易課程 第三堂  .  2026.04.20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6473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B4C8"/>
                </a:solidFill>
                <a:latin typeface="Microsoft JhengHei"/>
              </a:rPr>
              <a:t>群益期貨｜廖梓棋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73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B4C8"/>
                </a:solidFill>
                <a:latin typeface="Microsoft JhengHe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